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286000"/>
            <a:ext cx="2286000" cy="22860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097280" y="3200400"/>
            <a:ext cx="2743200" cy="2743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822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B82F6"/>
                </a:solidFill>
              </a:rPr>
              <a:t>MCA (AI &amp; DATA SCIENCE)  •  MAJOR CAPSTONE PROJECT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23444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Spec2Architecture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4231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</a:rPr>
              <a:t>Autonomous System Design &amp; Microservice Blueprint Generator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1417320" cy="320040"/>
          </a:xfrm>
          <a:prstGeom prst="roundRect">
            <a:avLst>
              <a:gd name="adj" fmla="val 28571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2461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⚡ LangGraph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075688" y="3246120"/>
            <a:ext cx="1417320" cy="320040"/>
          </a:xfrm>
          <a:prstGeom prst="roundRect">
            <a:avLst>
              <a:gd name="adj" fmla="val 28571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075688" y="32461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🧠 Ollama / Gemini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02736" y="3246120"/>
            <a:ext cx="1417320" cy="320040"/>
          </a:xfrm>
          <a:prstGeom prst="roundRect">
            <a:avLst>
              <a:gd name="adj" fmla="val 28571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02736" y="32461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📚 ChromaDB RAG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129784" y="3246120"/>
            <a:ext cx="1417320" cy="320040"/>
          </a:xfrm>
          <a:prstGeom prst="roundRect">
            <a:avLst>
              <a:gd name="adj" fmla="val 28571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29784" y="32461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🐳 Docker Compose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656832" y="3246120"/>
            <a:ext cx="1417320" cy="320040"/>
          </a:xfrm>
          <a:prstGeom prst="roundRect">
            <a:avLst>
              <a:gd name="adj" fmla="val 28571"/>
            </a:avLst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56832" y="32461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📊 Mermaid Studio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Built with LangGraph  •  LangChain  •  ChromaDB  •  Streamlit  •  Ollama  •  Google Gemini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20040" y="9144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The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Problem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24688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</a:rPr>
              <a:t>Translating a Product Requirement Document into a real architecture is slow, expensive, and error-prone.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069080" y="274320"/>
            <a:ext cx="4846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206240" y="438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⏳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709160" y="3657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Weeks of Senior Architect Time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709160" y="67665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Designing schemas, microservices, and APIs from scratch takes 2–4 weeks of expert effort.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069080" y="1371600"/>
            <a:ext cx="4846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206240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💸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14630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Expensive Consulting Costs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177393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Hiring senior architects for every product idea is cost-prohibitive for startups and student teams.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069080" y="2468880"/>
            <a:ext cx="4846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06240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🤔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709160" y="25603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Inconsistent Best Practices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709160" y="287121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Junior teams often miss critical patterns like Saga, CQRS, or idempotency, leading to fragile systems.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069080" y="3566160"/>
            <a:ext cx="4846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206240" y="3730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🔁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4709160" y="36576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No Self-Correcting Feedback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709160" y="396849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Traditional tools generate output once with no quality gate or iterative refinement loop.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0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5CF6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315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Spec2Architecture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</a:rPr>
              <a:t>Paste a PRD. Get a complete, production-ready system architecture in under 2 minutes.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2606040" cy="1005840"/>
          </a:xfrm>
          <a:prstGeom prst="roundRect">
            <a:avLst>
              <a:gd name="adj" fmla="val 9091"/>
            </a:avLst>
          </a:prstGeom>
          <a:solidFill>
            <a:srgbClr val="161B22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🗄️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6334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PostgreSQL DDL Schema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2377440"/>
            <a:ext cx="2606040" cy="1005840"/>
          </a:xfrm>
          <a:prstGeom prst="roundRect">
            <a:avLst>
              <a:gd name="adj" fmla="val 9091"/>
            </a:avLst>
          </a:prstGeom>
          <a:solidFill>
            <a:srgbClr val="161B22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2044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977640" y="26334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Mermaid ERD Diagram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2377440"/>
            <a:ext cx="2606040" cy="1005840"/>
          </a:xfrm>
          <a:prstGeom prst="roundRect">
            <a:avLst>
              <a:gd name="adj" fmla="val 9091"/>
            </a:avLst>
          </a:prstGeom>
          <a:solidFill>
            <a:srgbClr val="161B22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5508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🔌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812280" y="26334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OpenAPI 3.0 Specs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566160"/>
            <a:ext cx="2606040" cy="1005840"/>
          </a:xfrm>
          <a:prstGeom prst="roundRect">
            <a:avLst>
              <a:gd name="adj" fmla="val 9091"/>
            </a:avLst>
          </a:prstGeom>
          <a:solidFill>
            <a:srgbClr val="161B22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🏛️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38221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Architecture Flowchart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83280" y="3566160"/>
            <a:ext cx="2606040" cy="1005840"/>
          </a:xfrm>
          <a:prstGeom prst="roundRect">
            <a:avLst>
              <a:gd name="adj" fmla="val 9091"/>
            </a:avLst>
          </a:prstGeom>
          <a:solidFill>
            <a:srgbClr val="161B22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52044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3977640" y="38221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CTO Audit Report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3566160"/>
            <a:ext cx="2606040" cy="1005840"/>
          </a:xfrm>
          <a:prstGeom prst="roundRect">
            <a:avLst>
              <a:gd name="adj" fmla="val 9091"/>
            </a:avLst>
          </a:prstGeom>
          <a:solidFill>
            <a:srgbClr val="161B22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5508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🐳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6812280" y="38221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docker-compose.yml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</a:rPr>
              <a:t>Technology Stack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8 technologies working together to form a complete agentic AI pipeline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234440"/>
            <a:ext cx="20116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1737360" cy="256032"/>
          </a:xfrm>
          <a:prstGeom prst="roundRect">
            <a:avLst>
              <a:gd name="adj" fmla="val 17857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13716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B6D4"/>
                </a:solidFill>
              </a:rPr>
              <a:t>FRONTEND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338328" y="170992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Streamlit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38328" y="213055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Interactive Python web UI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23160" y="1234440"/>
            <a:ext cx="20116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0" y="1371600"/>
            <a:ext cx="1737360" cy="256032"/>
          </a:xfrm>
          <a:prstGeom prst="roundRect">
            <a:avLst>
              <a:gd name="adj" fmla="val 17857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560320" y="13716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5CF6"/>
                </a:solidFill>
              </a:rPr>
              <a:t>ORCHESTRATION</a:t>
            </a:r>
            <a:endParaRPr lang="en-US" sz="700" dirty="0"/>
          </a:p>
        </p:txBody>
      </p:sp>
      <p:sp>
        <p:nvSpPr>
          <p:cNvPr id="13" name="Text 11"/>
          <p:cNvSpPr txBox="1"/>
          <p:nvPr/>
        </p:nvSpPr>
        <p:spPr>
          <a:xfrm>
            <a:off x="2532888" y="170992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LangGraph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532888" y="213055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Cyclical multi-agent state machine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17720" y="1234440"/>
            <a:ext cx="20116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1371600"/>
            <a:ext cx="1737360" cy="256032"/>
          </a:xfrm>
          <a:prstGeom prst="roundRect">
            <a:avLst>
              <a:gd name="adj" fmla="val 1785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54880" y="13716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B82F6"/>
                </a:solidFill>
              </a:rPr>
              <a:t>AGENT TOOLING</a:t>
            </a:r>
            <a:endParaRPr lang="en-US" sz="700" dirty="0"/>
          </a:p>
        </p:txBody>
      </p:sp>
      <p:sp>
        <p:nvSpPr>
          <p:cNvPr id="18" name="Text 16"/>
          <p:cNvSpPr txBox="1"/>
          <p:nvPr/>
        </p:nvSpPr>
        <p:spPr>
          <a:xfrm>
            <a:off x="4727448" y="170992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LangChain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727448" y="213055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LLM prompts, parsers &amp; chains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812280" y="1234440"/>
            <a:ext cx="20116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49440" y="1371600"/>
            <a:ext cx="1737360" cy="256032"/>
          </a:xfrm>
          <a:prstGeom prst="roundRect">
            <a:avLst>
              <a:gd name="adj" fmla="val 1785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49440" y="13716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</a:rPr>
              <a:t>VECTOR DB/RAG</a:t>
            </a:r>
            <a:endParaRPr lang="en-US" sz="700" dirty="0"/>
          </a:p>
        </p:txBody>
      </p:sp>
      <p:sp>
        <p:nvSpPr>
          <p:cNvPr id="23" name="Text 21"/>
          <p:cNvSpPr txBox="1"/>
          <p:nvPr/>
        </p:nvSpPr>
        <p:spPr>
          <a:xfrm>
            <a:off x="6922008" y="170992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ChromaDB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922008" y="213055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Semantic pattern retrieval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28600" y="3063240"/>
            <a:ext cx="20116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FBBF2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200400"/>
            <a:ext cx="1737360" cy="256032"/>
          </a:xfrm>
          <a:prstGeom prst="roundRect">
            <a:avLst>
              <a:gd name="adj" fmla="val 17857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65760" y="32004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BBF24"/>
                </a:solidFill>
              </a:rPr>
              <a:t>LOCAL LLM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338328" y="353872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Ollama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338328" y="395935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Private on-device inference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423160" y="3063240"/>
            <a:ext cx="20116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F472B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0" y="3200400"/>
            <a:ext cx="1737360" cy="256032"/>
          </a:xfrm>
          <a:prstGeom prst="roundRect">
            <a:avLst>
              <a:gd name="adj" fmla="val 17857"/>
            </a:avLst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560320" y="32004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472B6"/>
                </a:solidFill>
              </a:rPr>
              <a:t>CLOUD LLM</a:t>
            </a:r>
            <a:endParaRPr lang="en-US" sz="700" dirty="0"/>
          </a:p>
        </p:txBody>
      </p:sp>
      <p:sp>
        <p:nvSpPr>
          <p:cNvPr id="33" name="Text 31"/>
          <p:cNvSpPr txBox="1"/>
          <p:nvPr/>
        </p:nvSpPr>
        <p:spPr>
          <a:xfrm>
            <a:off x="2532888" y="353872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Google Gemini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2532888" y="395935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Cloud API fallback engine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17720" y="3063240"/>
            <a:ext cx="20116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3200400"/>
            <a:ext cx="1737360" cy="256032"/>
          </a:xfrm>
          <a:prstGeom prst="roundRect">
            <a:avLst>
              <a:gd name="adj" fmla="val 17857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754880" y="32004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B6D4"/>
                </a:solidFill>
              </a:rPr>
              <a:t>DIAGRAMS</a:t>
            </a:r>
            <a:endParaRPr lang="en-US" sz="700" dirty="0"/>
          </a:p>
        </p:txBody>
      </p:sp>
      <p:sp>
        <p:nvSpPr>
          <p:cNvPr id="38" name="Text 36"/>
          <p:cNvSpPr txBox="1"/>
          <p:nvPr/>
        </p:nvSpPr>
        <p:spPr>
          <a:xfrm>
            <a:off x="4727448" y="353872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Mermaid.js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4727448" y="395935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Text-to-diagram rendering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812280" y="3063240"/>
            <a:ext cx="20116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949440" y="3200400"/>
            <a:ext cx="1737360" cy="256032"/>
          </a:xfrm>
          <a:prstGeom prst="roundRect">
            <a:avLst>
              <a:gd name="adj" fmla="val 1785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949440" y="32004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B82F6"/>
                </a:solidFill>
              </a:rPr>
              <a:t>INFRA</a:t>
            </a:r>
            <a:endParaRPr lang="en-US" sz="700" dirty="0"/>
          </a:p>
        </p:txBody>
      </p:sp>
      <p:sp>
        <p:nvSpPr>
          <p:cNvPr id="43" name="Text 41"/>
          <p:cNvSpPr txBox="1"/>
          <p:nvPr/>
        </p:nvSpPr>
        <p:spPr>
          <a:xfrm>
            <a:off x="6922008" y="353872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Docker Compose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6922008" y="395935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One-command stack deployment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LangGraph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</a:rPr>
              <a:t>The Cyclical 6-Node State Machine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61872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</a:rPr>
              <a:t>Unlike simple linear AI chains, LangGraph models AI workflows as graphs with loops — allowing self-correction when output quality is low.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1188720" cy="960120"/>
          </a:xfrm>
          <a:prstGeom prst="roundRect">
            <a:avLst>
              <a:gd name="adj" fmla="val 9524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15798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450592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Requirement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Analyst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874520" y="2103120"/>
            <a:ext cx="1188720" cy="960120"/>
          </a:xfrm>
          <a:prstGeom prst="roundRect">
            <a:avLst>
              <a:gd name="adj" fmla="val 9524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874520" y="215798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N2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874520" y="2450592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Pattern RAG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Retriever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91840" y="2103120"/>
            <a:ext cx="1188720" cy="960120"/>
          </a:xfrm>
          <a:prstGeom prst="roundRect">
            <a:avLst>
              <a:gd name="adj" fmla="val 9524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291840" y="215798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N3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3291840" y="2450592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Database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Architect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709160" y="2103120"/>
            <a:ext cx="1188720" cy="960120"/>
          </a:xfrm>
          <a:prstGeom prst="roundRect">
            <a:avLst>
              <a:gd name="adj" fmla="val 9524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09160" y="215798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N4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4709160" y="2450592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API &amp; Service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Architect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126480" y="2103120"/>
            <a:ext cx="1188720" cy="960120"/>
          </a:xfrm>
          <a:prstGeom prst="roundRect">
            <a:avLst>
              <a:gd name="adj" fmla="val 9524"/>
            </a:avLst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26480" y="215798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N5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6126480" y="2450592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CTO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Validator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543800" y="2103120"/>
            <a:ext cx="1188720" cy="960120"/>
          </a:xfrm>
          <a:prstGeom prst="roundRect">
            <a:avLst>
              <a:gd name="adj" fmla="val 9524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43800" y="215798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N6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7543800" y="2450592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DevOps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Architect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645920" y="2542032"/>
            <a:ext cx="137160" cy="73152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063240" y="2542032"/>
            <a:ext cx="137160" cy="73152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80560" y="2542032"/>
            <a:ext cx="137160" cy="73152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97880" y="2542032"/>
            <a:ext cx="137160" cy="73152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0" y="2542032"/>
            <a:ext cx="137160" cy="73152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7200" y="3246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BBF24"/>
                </a:solidFill>
              </a:rPr>
              <a:t>↩ If Score &lt; 75: loops back to N3 for refinement (max 2 iterations)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7200" y="37490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94360" y="382219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5CF6"/>
                </a:solidFill>
              </a:rPr>
              <a:t>Self-correcting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594360" y="413308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</a:rPr>
              <a:t>Quality gate forces re-generation if score is too low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383280" y="37490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520440" y="382219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5CF6"/>
                </a:solidFill>
              </a:rPr>
              <a:t>Shared State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3520440" y="413308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</a:rPr>
              <a:t>Every node reads/writes a single typed state object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309360" y="37490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446520" y="382219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5CF6"/>
                </a:solidFill>
              </a:rPr>
              <a:t>Conditional Routing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6446520" y="413308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</a:rPr>
              <a:t>Graph edges branch based on logic, not just sequence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20040" y="64008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ChromaDB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&amp; RAG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20574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Retrieval-Augmented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Generation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274320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</a:rPr>
              <a:t>Instead of relying on the LLM's training memory alone, RAG retrieves proven real-world patterns from a vector database and feeds them into every generation prompt.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2286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8 Built-in Enterprise Patterns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777240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07408" y="886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⚡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86868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CQRS &amp; Event Sourcing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125272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B6D4"/>
                </a:solidFill>
              </a:rPr>
              <a:t>Architecture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629400" y="777240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39128" y="886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🔄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0" y="86868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Saga Pattern (Distributed Tx)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7132320" y="125272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B6D4"/>
                </a:solidFill>
              </a:rPr>
              <a:t>Data Consistency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297680" y="1828800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07408" y="1938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⚡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800600" y="192024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Cache-Aside with Redis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800600" y="230428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B6D4"/>
                </a:solidFill>
              </a:rPr>
              <a:t>Performance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629400" y="1828800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739128" y="1938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🗄️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0" y="192024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DB Sharding &amp; Read Replicas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7132320" y="230428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B6D4"/>
                </a:solidFill>
              </a:rPr>
              <a:t>Storage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297680" y="2880360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407408" y="2990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🔑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800600" y="297180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Idempotency Keys &amp; Rate Limiting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4800600" y="335584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B6D4"/>
                </a:solidFill>
              </a:rPr>
              <a:t>API Design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629400" y="2880360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739128" y="2990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📨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132320" y="297180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Event-Driven with Kafka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7132320" y="335584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B6D4"/>
                </a:solidFill>
              </a:rPr>
              <a:t>Integration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297680" y="3931920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407408" y="4041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🚪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4800600" y="402336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API Gateway &amp; BFF Pattern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4800600" y="440740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B6D4"/>
                </a:solidFill>
              </a:rPr>
              <a:t>Networking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629400" y="3931920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739128" y="4041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🔒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7132320" y="402336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Zero-Trust Security &amp; mTLS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7132320" y="440740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B6D4"/>
                </a:solidFill>
              </a:rPr>
              <a:t>Security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457200"/>
            <a:ext cx="3657600" cy="365760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Ollama — Local Private LLM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</a:rPr>
              <a:t>Run open-source AI models entirely on your machine — no internet, no API costs, no data leaks.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4114800" cy="1188720"/>
          </a:xfrm>
          <a:prstGeom prst="roundRect">
            <a:avLst>
              <a:gd name="adj" fmla="val 7692"/>
            </a:avLst>
          </a:prstGeom>
          <a:solidFill>
            <a:srgbClr val="161B22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7099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</a:rPr>
              <a:t>100% Private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07568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</a:rPr>
              <a:t>Your PRD never leaves your machine. Zero cloud exposure of sensitive product specs.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1600200"/>
            <a:ext cx="4114800" cy="1188720"/>
          </a:xfrm>
          <a:prstGeom prst="roundRect">
            <a:avLst>
              <a:gd name="adj" fmla="val 7692"/>
            </a:avLst>
          </a:prstGeom>
          <a:solidFill>
            <a:srgbClr val="161B22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532120" y="17099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</a:rPr>
              <a:t>Zero API Cost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532120" y="207568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</a:rPr>
              <a:t>No per-token billing. Run millions of tokens locally for free.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4114800" cy="1188720"/>
          </a:xfrm>
          <a:prstGeom prst="roundRect">
            <a:avLst>
              <a:gd name="adj" fmla="val 7692"/>
            </a:avLst>
          </a:prstGeom>
          <a:solidFill>
            <a:srgbClr val="161B22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31272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</a:rPr>
              <a:t>Works Offline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49300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</a:rPr>
              <a:t>No internet needed once the model is downloaded. Airport-friendly.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3017520"/>
            <a:ext cx="4114800" cy="1188720"/>
          </a:xfrm>
          <a:prstGeom prst="roundRect">
            <a:avLst>
              <a:gd name="adj" fmla="val 7692"/>
            </a:avLst>
          </a:prstGeom>
          <a:solidFill>
            <a:srgbClr val="161B22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02920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5532120" y="31272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</a:rPr>
              <a:t>Fast on Local GPU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532120" y="349300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</a:rPr>
              <a:t>With an NVIDIA GPU, local inference rivals cloud speed.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617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A3AF"/>
                </a:solidFill>
              </a:rPr>
              <a:t>Supported Local Models: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0" y="4636008"/>
            <a:ext cx="1828800" cy="292608"/>
          </a:xfrm>
          <a:prstGeom prst="roundRect">
            <a:avLst>
              <a:gd name="adj" fmla="val 21875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743200" y="46360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</a:rPr>
              <a:t>llama3:8b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54880" y="4636008"/>
            <a:ext cx="1828800" cy="292608"/>
          </a:xfrm>
          <a:prstGeom prst="roundRect">
            <a:avLst>
              <a:gd name="adj" fmla="val 21875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754880" y="46360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</a:rPr>
              <a:t>mistral:7b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766560" y="4636008"/>
            <a:ext cx="1828800" cy="292608"/>
          </a:xfrm>
          <a:prstGeom prst="roundRect">
            <a:avLst>
              <a:gd name="adj" fmla="val 21875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766560" y="46360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</a:rPr>
              <a:t>deepseek-r1:8b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</a:rPr>
              <a:t>Dual LLM Engine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Choose between local privacy-first inference or cloud-powered intelligence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840480" cy="3749040"/>
          </a:xfrm>
          <a:prstGeom prst="roundRect">
            <a:avLst>
              <a:gd name="adj" fmla="val 3659"/>
            </a:avLst>
          </a:prstGeom>
          <a:solidFill>
            <a:srgbClr val="1E293B"/>
          </a:solidFill>
          <a:ln w="25400">
            <a:solidFill>
              <a:srgbClr val="FBBF2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3716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BF24"/>
                </a:solidFill>
              </a:rPr>
              <a:t>🦙  Ollama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74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Local Private LLM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2402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</a:rPr>
              <a:t>✅ 100% offline — no internet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62432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</a:rPr>
              <a:t>✅ Zero API cost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300837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</a:rPr>
              <a:t>✅ Data never leaves machine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39242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</a:rPr>
              <a:t>✅ llama3, mistral, deepseek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377647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</a:rPr>
              <a:t>⚠️ Needs local GPU/RAM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41605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</a:rPr>
              <a:t>⚠️ Slower on CPU-only machines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37760" y="1188720"/>
            <a:ext cx="3840480" cy="3749040"/>
          </a:xfrm>
          <a:prstGeom prst="roundRect">
            <a:avLst>
              <a:gd name="adj" fmla="val 3659"/>
            </a:avLst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20640" y="13716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</a:rPr>
              <a:t>✨  Google Gemini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120640" y="1874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Gemini 3.8 Flash  •  Cloud API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166360" y="22402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</a:rPr>
              <a:t>✅ More intelligent responses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166360" y="262432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</a:rPr>
              <a:t>✅ No GPU required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166360" y="300837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</a:rPr>
              <a:t>✅ Fast even on weak hardware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166360" y="339242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</a:rPr>
              <a:t>✅ Great for complex PRDs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5166360" y="377647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</a:rPr>
              <a:t>⚠️ Needs internet + API key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166360" y="41605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</a:rPr>
              <a:t>⚠️ Costs per request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-457200"/>
            <a:ext cx="2743200" cy="2743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Streamlit UI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</a:rPr>
              <a:t>A full interactive engineering dashboard — built entirely in Python, no HTML/JS needed.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2697480" cy="1463040"/>
          </a:xfrm>
          <a:prstGeom prst="roundRect">
            <a:avLst>
              <a:gd name="adj" fmla="val 6250"/>
            </a:avLst>
          </a:prstGeom>
          <a:solidFill>
            <a:srgbClr val="161B22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30352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61848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B6D4"/>
                </a:solidFill>
              </a:rPr>
              <a:t>LLM Engine Selector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30352" y="2075688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</a:rPr>
              <a:t>Switch between Ollama and Gemini in the sidebar. Auto-detects running local models.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91840" y="1508760"/>
            <a:ext cx="2697480" cy="1463040"/>
          </a:xfrm>
          <a:prstGeom prst="roundRect">
            <a:avLst>
              <a:gd name="adj" fmla="val 6250"/>
            </a:avLst>
          </a:prstGeom>
          <a:solidFill>
            <a:srgbClr val="161B22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56432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931920" y="161848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B6D4"/>
                </a:solidFill>
              </a:rPr>
              <a:t>PRD Input Area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456432" y="2075688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</a:rPr>
              <a:t>Paste any product spec or load from 4 built-in sample PRD templates.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17920" y="1508760"/>
            <a:ext cx="2697480" cy="1463040"/>
          </a:xfrm>
          <a:prstGeom prst="roundRect">
            <a:avLst>
              <a:gd name="adj" fmla="val 6250"/>
            </a:avLst>
          </a:prstGeom>
          <a:solidFill>
            <a:srgbClr val="161B22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82512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0" y="161848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B6D4"/>
                </a:solidFill>
              </a:rPr>
              <a:t>Live Progress Bar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382512" y="2075688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</a:rPr>
              <a:t>6-step progress tracking mirrors each LangGraph node as it executes.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154680"/>
            <a:ext cx="2697480" cy="1463040"/>
          </a:xfrm>
          <a:prstGeom prst="roundRect">
            <a:avLst>
              <a:gd name="adj" fmla="val 6250"/>
            </a:avLst>
          </a:prstGeom>
          <a:solidFill>
            <a:srgbClr val="161B22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30352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🗂️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32644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B6D4"/>
                </a:solidFill>
              </a:rPr>
              <a:t>6 Result Tabs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530352" y="3721608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</a:rPr>
              <a:t>Architecture chart, DB schema, API specs, CTO audit, Docker config, and export.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91840" y="3154680"/>
            <a:ext cx="2697480" cy="1463040"/>
          </a:xfrm>
          <a:prstGeom prst="roundRect">
            <a:avLst>
              <a:gd name="adj" fmla="val 6250"/>
            </a:avLst>
          </a:prstGeom>
          <a:solidFill>
            <a:srgbClr val="161B22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456432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📥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3931920" y="32644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B6D4"/>
                </a:solidFill>
              </a:rPr>
              <a:t>Export Dossier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3456432" y="3721608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</a:rPr>
              <a:t>Download schema.sql, docker-compose.yml, and full architecture.md in one click.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217920" y="3154680"/>
            <a:ext cx="2697480" cy="1463040"/>
          </a:xfrm>
          <a:prstGeom prst="roundRect">
            <a:avLst>
              <a:gd name="adj" fmla="val 6250"/>
            </a:avLst>
          </a:prstGeom>
          <a:solidFill>
            <a:srgbClr val="161B22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82512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0" y="32644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B6D4"/>
                </a:solidFill>
              </a:rPr>
              <a:t>Scale Tier Selector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6382512" y="3721608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</a:rPr>
              <a:t>Choose Startup MVP, High Throughput, or Hyper-Scale to tune the architecture output.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6-Node Pipeline — Deep Dive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7040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Each node is a specialized AI agent with its own system prompt, task, and output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143000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07592"/>
            <a:ext cx="384048" cy="38404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1307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13075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Requirement Analyst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7099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B82F6"/>
                </a:solidFill>
              </a:rPr>
              <a:t>Principal Architect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365760" y="2103120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Output: Functional reqs, NFRs, domain entities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0" y="1143000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307592"/>
            <a:ext cx="384048" cy="38404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37560" y="1307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794760" y="13075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Pattern RAG Retriever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3794760" y="17099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B6D4"/>
                </a:solidFill>
              </a:rPr>
              <a:t>Knowledge Engineer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3337560" y="2103120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Output: Top-3 matching design patterns from ChromaDB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72200" y="1143000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1307592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09360" y="1307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766560" y="13075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Database Architect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766560" y="17099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DBA &amp; Data Architect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6309360" y="2103120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Output: PostgreSQL DDL + Mermaid ERD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28600" y="3063240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25400">
            <a:solidFill>
              <a:srgbClr val="FBBF2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227832"/>
            <a:ext cx="384048" cy="38404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65760" y="3227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322783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API &amp; Service Architect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36301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BBF24"/>
                </a:solidFill>
              </a:rPr>
              <a:t>Microservice Specialist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365760" y="4023360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Output: OpenAPI 3.0 specs + architecture flowchart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0" y="3063240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25400">
            <a:solidFill>
              <a:srgbClr val="F472B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37560" y="3227832"/>
            <a:ext cx="384048" cy="384048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337560" y="3227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3794760" y="322783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CTO Validator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3794760" y="36301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72B6"/>
                </a:solidFill>
              </a:rPr>
              <a:t>Chief Technology Officer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3337560" y="4023360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Output: Score /100 + critique. Loops back if &lt; 75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172200" y="3063240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09360" y="3227832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309360" y="3227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06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6766560" y="322783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DevOps Architect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6766560" y="36301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5CF6"/>
                </a:solidFill>
              </a:rPr>
              <a:t>SRE / Platform Engineer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6309360" y="4023360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Output: docker-compose.yml + monitoring blueprint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200400"/>
            <a:ext cx="3200400" cy="32004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Node 3 — Database Architect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0467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</a:rPr>
              <a:t>Generates production-ready PostgreSQL schemas and visual ERDs automatically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258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What it generates: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4114800" cy="530352"/>
          </a:xfrm>
          <a:prstGeom prst="roundRect">
            <a:avLst>
              <a:gd name="adj" fmla="val 12069"/>
            </a:avLst>
          </a:prstGeom>
          <a:solidFill>
            <a:srgbClr val="161B22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78308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</a:rPr>
              <a:t>→  CREATE TABLE statements with UUID primary keys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350008"/>
            <a:ext cx="4114800" cy="530352"/>
          </a:xfrm>
          <a:prstGeom prst="roundRect">
            <a:avLst>
              <a:gd name="adj" fmla="val 12069"/>
            </a:avLst>
          </a:prstGeom>
          <a:solidFill>
            <a:srgbClr val="161B22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39572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</a:rPr>
              <a:t>→  FOREIGN KEY constraints for relational integrity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962656"/>
            <a:ext cx="4114800" cy="530352"/>
          </a:xfrm>
          <a:prstGeom prst="roundRect">
            <a:avLst>
              <a:gd name="adj" fmla="val 12069"/>
            </a:avLst>
          </a:prstGeom>
          <a:solidFill>
            <a:srgbClr val="161B22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300837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</a:rPr>
              <a:t>→  Performance INDEXES on high-cardinality columns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575304"/>
            <a:ext cx="4114800" cy="530352"/>
          </a:xfrm>
          <a:prstGeom prst="roundRect">
            <a:avLst>
              <a:gd name="adj" fmla="val 12069"/>
            </a:avLst>
          </a:prstGeom>
          <a:solidFill>
            <a:srgbClr val="161B22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362102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</a:rPr>
              <a:t>→  Appropriate data types (TIMESTAMPTZ, JSONB, etc.)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87952"/>
            <a:ext cx="4114800" cy="530352"/>
          </a:xfrm>
          <a:prstGeom prst="roundRect">
            <a:avLst>
              <a:gd name="adj" fmla="val 12069"/>
            </a:avLst>
          </a:prstGeom>
          <a:solidFill>
            <a:srgbClr val="161B22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423367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</a:rPr>
              <a:t>→  Mermaid ERD showing entity relationships visually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1325880"/>
            <a:ext cx="4023360" cy="3566160"/>
          </a:xfrm>
          <a:prstGeom prst="roundRect">
            <a:avLst>
              <a:gd name="adj" fmla="val 2564"/>
            </a:avLst>
          </a:prstGeom>
          <a:solidFill>
            <a:srgbClr val="0A1628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2920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-- Sample Output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983480" y="1783080"/>
            <a:ext cx="37490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users 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 UUID PRIMARY KEY DEFAULT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gen_random_uuid(),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email VARCHAR(255) UNIQUE,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created_at TIMESTAMPTZ DEFAULT NOW()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 idx_users_email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users(email);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orders 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 UUID PRIMARY KEY,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user_id UUID REFERENCES users(id),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 VARCHAR(50) NOT NULL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Node 5 — CTO Validator &amp; Quality Gate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The self-correcting heart of the system — the only node that can loop the graph backwards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286000" cy="2286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25400">
            <a:solidFill>
              <a:srgbClr val="F472B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65760" y="1371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A3AF"/>
                </a:solidFill>
              </a:rPr>
              <a:t>Score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17373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FFFFFF"/>
                </a:solidFill>
              </a:rPr>
              <a:t>85</a:t>
            </a:r>
            <a:endParaRPr lang="en-US" sz="620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24963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</a:rPr>
              <a:t>/100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28346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0B981"/>
                </a:solidFill>
              </a:rPr>
              <a:t>CTO QUALITY GATE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365760" y="312724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PASS ✓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926080" y="11887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What the CTO audits: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926080" y="1627632"/>
            <a:ext cx="59893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063240" y="1719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⚠️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493008" y="170078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Single Points of Failure (SPOF)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3493008" y="1975104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Checks if any single component going down would crash the whole system.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926080" y="2450592"/>
            <a:ext cx="59893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063240" y="2542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🔄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493008" y="252374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Data Consistency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3493008" y="2798064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Verifies appropriate caching strategy, transaction rollback (Saga), and ACID guarantees.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926080" y="3273552"/>
            <a:ext cx="59893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063240" y="3364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🔒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493008" y="334670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Security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493008" y="3621024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Evaluates auth mechanisms, rate limiting, data isolation, and JWT scoping.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926080" y="4096512"/>
            <a:ext cx="59893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063240" y="4187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📈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3493008" y="416966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Scalability Bottlenecks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3493008" y="4443984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Identifies choke points like a single DB without replicas or no load balancing.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3703320"/>
            <a:ext cx="8412480" cy="1234440"/>
          </a:xfrm>
          <a:prstGeom prst="roundRect">
            <a:avLst>
              <a:gd name="adj" fmla="val 7407"/>
            </a:avLst>
          </a:prstGeom>
          <a:solidFill>
            <a:srgbClr val="1E293B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94360" y="38221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</a:rPr>
              <a:t>Router Logic: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94360" y="42062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Score ≥ 75  →  Proceed to Node 6 (Infrastructure)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594360" y="45262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</a:rPr>
              <a:t>Score &lt; 75 AND iteration &lt; 2  →  Loop back to Node 3 (Database Architect) with critique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2743200"/>
            <a:ext cx="3200400" cy="32004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Node 6 — Infrastructure Output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0467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82F6"/>
                </a:solidFill>
              </a:rPr>
              <a:t>Production-ready Docker Compose stack — one command to launch the entire system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🐘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508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PostgreSQL 16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0116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</a:rPr>
              <a:t>Primary database with health check and persistent volume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74720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977640" y="1508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Redis 7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20116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</a:rPr>
              <a:t>Distributed caching layer for session and hot data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17920" y="137160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0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🚪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1508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API Gateway (Kong)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20116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</a:rPr>
              <a:t>SSL termination, rate limiting, JWT auth, request routing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92608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3090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3063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Microservice Containers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5661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</a:rPr>
              <a:t>App services with env vars, restart policies, and networking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292608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474720" y="3090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3977640" y="3063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Prometheus + Grafana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3474720" y="35661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</a:rPr>
              <a:t>Metrics collection and real-time dashboards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17920" y="292608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00800" y="3090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6903720" y="3063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OpenTelemetry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0" y="35661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</a:rPr>
              <a:t>Distributed tracing across all services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 →  entire production stack launches in seconds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Built-in Sample PRD Templates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7040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Four real-world, high-complexity system design challenges pre-loaded in the app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2062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25400">
            <a:solidFill>
              <a:srgbClr val="F472B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2527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🚑  Rural Telemedicine &amp; Ambulance Dispatch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73352"/>
            <a:ext cx="3474720" cy="18288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76479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• Real-time GPS over 2G/3G + offline sync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01168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• Automated cardiac/obstetric triage algorithm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2585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• WebRTC video telemedicine consult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50545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• Hospital bed inventory integration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09160" y="1143000"/>
            <a:ext cx="42062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25400">
            <a:solidFill>
              <a:srgbClr val="FBBF2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92040" y="12527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⚡  High-Concurrency Flash Sale E-Commerce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92040" y="1673352"/>
            <a:ext cx="3474720" cy="1828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92040" y="176479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• 500,000 req/sec during product drops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201168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• Atomic inventory decrement (no overselling)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22585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• Virtual waiting room with token-bucket queue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250545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• Fraud detection at checkout edge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017520"/>
            <a:ext cx="42062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312724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📈  High-Frequency Crypto/Stock Trading Engine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547872"/>
            <a:ext cx="3474720" cy="182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" y="363931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• Central Limit Order Book (CLOB)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38862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• Sub-millisecond in-memory matching engine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13308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• WebSocket L2/L3 feeds for 200K traders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37997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• Double-entry bookkeeping + crypto audit trail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09160" y="3017520"/>
            <a:ext cx="42062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892040" y="312724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🎥  Global Video Streaming (Netflix-style)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92040" y="3547872"/>
            <a:ext cx="3474720" cy="182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892040" y="363931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• 4K HLS/DASH adaptive transcoding pipeline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4892040" y="38862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• Edge CDN with geo-DNS routing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4892040" y="413308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• Cross-device viewing progress sync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4892040" y="437997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• Cold storage tiering + DRM rights management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2743200"/>
            <a:ext cx="3200400" cy="32004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3657600"/>
            <a:ext cx="2743200" cy="2743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Conclusion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9144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</a:rPr>
              <a:t>Spec2Architecture demonstrates how modern AI techniques can be combined into a practical, production-quality tool.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161B22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3232" y="1709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🔄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1709928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</a:rPr>
              <a:t>LangGraph cyclical state machine enables self-correcting AI output — a step beyond simple RAG chatbots.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37744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161B22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3232" y="2487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📚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2487168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</a:rPr>
              <a:t>ChromaDB grounding eliminates hallucination by anchoring every generation to proven architectural patterns.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15468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161B22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13232" y="3264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🔒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3264408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</a:rPr>
              <a:t>Dual-engine design (Ollama + Gemini) balances privacy, cost, and intelligence based on user needs.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93192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161B22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3232" y="4041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🎓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4041648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</a:rPr>
              <a:t>Covers advanced concepts: distributed systems, microservices, CQRS, Saga, zero-trust security, and DevOps.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709160"/>
            <a:ext cx="8046720" cy="310896"/>
          </a:xfrm>
          <a:prstGeom prst="roundRect">
            <a:avLst>
              <a:gd name="adj" fmla="val 20588"/>
            </a:avLst>
          </a:prstGeom>
          <a:solidFill>
            <a:srgbClr val="161B22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470916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🏗️  Spec2Architecture  •  MCA (AI &amp; DS) Capstone  •  LangGraph  •  ChromaDB  •  Ollama  •  Gemini  •  Streamlit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2026-10-04T05:00:49Z</dcterms:created>
  <dcterms:modified xsi:type="dcterms:W3CDTF">2026-10-04T05:00:49Z</dcterms:modified>
</cp:coreProperties>
</file>